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5" r:id="rId1"/>
  </p:sldMasterIdLst>
  <p:notesMasterIdLst>
    <p:notesMasterId r:id="rId7"/>
  </p:notesMasterIdLst>
  <p:sldIdLst>
    <p:sldId id="257" r:id="rId2"/>
    <p:sldId id="258" r:id="rId3"/>
    <p:sldId id="259" r:id="rId4"/>
    <p:sldId id="261" r:id="rId5"/>
    <p:sldId id="265"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756"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2FB950-93D9-43AD-BA35-6B98EFC7BC5A}" type="datetimeFigureOut">
              <a:rPr lang="en-US" smtClean="0"/>
              <a:t>11/9/2023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B218FC-FCCB-4BE0-B038-AB5375C2ACC5}" type="slidenum">
              <a:rPr lang="en-US" smtClean="0"/>
              <a:t>‹#›</a:t>
            </a:fld>
            <a:endParaRPr lang="en-US"/>
          </a:p>
        </p:txBody>
      </p:sp>
    </p:spTree>
    <p:extLst>
      <p:ext uri="{BB962C8B-B14F-4D97-AF65-F5344CB8AC3E}">
        <p14:creationId xmlns:p14="http://schemas.microsoft.com/office/powerpoint/2010/main" val="2675084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B218FC-FCCB-4BE0-B038-AB5375C2ACC5}" type="slidenum">
              <a:rPr lang="en-US" smtClean="0"/>
              <a:t>2</a:t>
            </a:fld>
            <a:endParaRPr lang="en-US"/>
          </a:p>
        </p:txBody>
      </p:sp>
    </p:spTree>
    <p:extLst>
      <p:ext uri="{BB962C8B-B14F-4D97-AF65-F5344CB8AC3E}">
        <p14:creationId xmlns:p14="http://schemas.microsoft.com/office/powerpoint/2010/main" val="23277061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067EA19-2609-457B-B2DE-2832586757A1}" type="datetimeFigureOut">
              <a:rPr lang="en-US" smtClean="0"/>
              <a:t>11/9/2023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A29944-D250-43C4-9A2B-EB6D3A994B37}" type="slidenum">
              <a:rPr lang="en-US" smtClean="0"/>
              <a:t>‹#›</a:t>
            </a:fld>
            <a:endParaRPr lang="en-US"/>
          </a:p>
        </p:txBody>
      </p:sp>
    </p:spTree>
    <p:extLst>
      <p:ext uri="{BB962C8B-B14F-4D97-AF65-F5344CB8AC3E}">
        <p14:creationId xmlns:p14="http://schemas.microsoft.com/office/powerpoint/2010/main" val="26141391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067EA19-2609-457B-B2DE-2832586757A1}" type="datetimeFigureOut">
              <a:rPr lang="en-US" smtClean="0"/>
              <a:t>11/9/2023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A29944-D250-43C4-9A2B-EB6D3A994B37}" type="slidenum">
              <a:rPr lang="en-US" smtClean="0"/>
              <a:t>‹#›</a:t>
            </a:fld>
            <a:endParaRPr lang="en-US"/>
          </a:p>
        </p:txBody>
      </p:sp>
    </p:spTree>
    <p:extLst>
      <p:ext uri="{BB962C8B-B14F-4D97-AF65-F5344CB8AC3E}">
        <p14:creationId xmlns:p14="http://schemas.microsoft.com/office/powerpoint/2010/main" val="30968465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067EA19-2609-457B-B2DE-2832586757A1}" type="datetimeFigureOut">
              <a:rPr lang="en-US" smtClean="0"/>
              <a:t>11/9/2023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A29944-D250-43C4-9A2B-EB6D3A994B37}" type="slidenum">
              <a:rPr lang="en-US" smtClean="0"/>
              <a:t>‹#›</a:t>
            </a:fld>
            <a:endParaRPr lang="en-US"/>
          </a:p>
        </p:txBody>
      </p:sp>
    </p:spTree>
    <p:extLst>
      <p:ext uri="{BB962C8B-B14F-4D97-AF65-F5344CB8AC3E}">
        <p14:creationId xmlns:p14="http://schemas.microsoft.com/office/powerpoint/2010/main" val="22266282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067EA19-2609-457B-B2DE-2832586757A1}" type="datetimeFigureOut">
              <a:rPr lang="en-US" smtClean="0"/>
              <a:t>11/9/2023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A29944-D250-43C4-9A2B-EB6D3A994B37}" type="slidenum">
              <a:rPr lang="en-US" smtClean="0"/>
              <a:t>‹#›</a:t>
            </a:fld>
            <a:endParaRPr lang="en-US"/>
          </a:p>
        </p:txBody>
      </p:sp>
    </p:spTree>
    <p:extLst>
      <p:ext uri="{BB962C8B-B14F-4D97-AF65-F5344CB8AC3E}">
        <p14:creationId xmlns:p14="http://schemas.microsoft.com/office/powerpoint/2010/main" val="2707439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067EA19-2609-457B-B2DE-2832586757A1}" type="datetimeFigureOut">
              <a:rPr lang="en-US" smtClean="0"/>
              <a:t>11/9/2023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A29944-D250-43C4-9A2B-EB6D3A994B37}" type="slidenum">
              <a:rPr lang="en-US" smtClean="0"/>
              <a:t>‹#›</a:t>
            </a:fld>
            <a:endParaRPr lang="en-US"/>
          </a:p>
        </p:txBody>
      </p:sp>
    </p:spTree>
    <p:extLst>
      <p:ext uri="{BB962C8B-B14F-4D97-AF65-F5344CB8AC3E}">
        <p14:creationId xmlns:p14="http://schemas.microsoft.com/office/powerpoint/2010/main" val="29733654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067EA19-2609-457B-B2DE-2832586757A1}" type="datetimeFigureOut">
              <a:rPr lang="en-US" smtClean="0"/>
              <a:t>11/9/2023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A29944-D250-43C4-9A2B-EB6D3A994B37}" type="slidenum">
              <a:rPr lang="en-US" smtClean="0"/>
              <a:t>‹#›</a:t>
            </a:fld>
            <a:endParaRPr lang="en-US"/>
          </a:p>
        </p:txBody>
      </p:sp>
    </p:spTree>
    <p:extLst>
      <p:ext uri="{BB962C8B-B14F-4D97-AF65-F5344CB8AC3E}">
        <p14:creationId xmlns:p14="http://schemas.microsoft.com/office/powerpoint/2010/main" val="37324092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67EA19-2609-457B-B2DE-2832586757A1}" type="datetimeFigureOut">
              <a:rPr lang="en-US" smtClean="0"/>
              <a:t>11/9/2023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A29944-D250-43C4-9A2B-EB6D3A994B37}" type="slidenum">
              <a:rPr lang="en-US" smtClean="0"/>
              <a:t>‹#›</a:t>
            </a:fld>
            <a:endParaRPr lang="en-US"/>
          </a:p>
        </p:txBody>
      </p:sp>
    </p:spTree>
    <p:extLst>
      <p:ext uri="{BB962C8B-B14F-4D97-AF65-F5344CB8AC3E}">
        <p14:creationId xmlns:p14="http://schemas.microsoft.com/office/powerpoint/2010/main" val="8825746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067EA19-2609-457B-B2DE-2832586757A1}" type="datetimeFigureOut">
              <a:rPr lang="en-US" smtClean="0"/>
              <a:t>11/9/2023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A29944-D250-43C4-9A2B-EB6D3A994B37}" type="slidenum">
              <a:rPr lang="en-US" smtClean="0"/>
              <a:t>‹#›</a:t>
            </a:fld>
            <a:endParaRPr lang="en-US"/>
          </a:p>
        </p:txBody>
      </p:sp>
    </p:spTree>
    <p:extLst>
      <p:ext uri="{BB962C8B-B14F-4D97-AF65-F5344CB8AC3E}">
        <p14:creationId xmlns:p14="http://schemas.microsoft.com/office/powerpoint/2010/main" val="38297229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67EA19-2609-457B-B2DE-2832586757A1}" type="datetimeFigureOut">
              <a:rPr lang="en-US" smtClean="0"/>
              <a:t>11/9/2023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A29944-D250-43C4-9A2B-EB6D3A994B37}" type="slidenum">
              <a:rPr lang="en-US" smtClean="0"/>
              <a:t>‹#›</a:t>
            </a:fld>
            <a:endParaRPr lang="en-US"/>
          </a:p>
        </p:txBody>
      </p:sp>
    </p:spTree>
    <p:extLst>
      <p:ext uri="{BB962C8B-B14F-4D97-AF65-F5344CB8AC3E}">
        <p14:creationId xmlns:p14="http://schemas.microsoft.com/office/powerpoint/2010/main" val="2770522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067EA19-2609-457B-B2DE-2832586757A1}" type="datetimeFigureOut">
              <a:rPr lang="en-US" smtClean="0"/>
              <a:t>11/9/2023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A29944-D250-43C4-9A2B-EB6D3A994B37}" type="slidenum">
              <a:rPr lang="en-US" smtClean="0"/>
              <a:t>‹#›</a:t>
            </a:fld>
            <a:endParaRPr lang="en-US"/>
          </a:p>
        </p:txBody>
      </p:sp>
    </p:spTree>
    <p:extLst>
      <p:ext uri="{BB962C8B-B14F-4D97-AF65-F5344CB8AC3E}">
        <p14:creationId xmlns:p14="http://schemas.microsoft.com/office/powerpoint/2010/main" val="397211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067EA19-2609-457B-B2DE-2832586757A1}" type="datetimeFigureOut">
              <a:rPr lang="en-US" smtClean="0"/>
              <a:t>11/9/2023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A29944-D250-43C4-9A2B-EB6D3A994B37}"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5984327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067EA19-2609-457B-B2DE-2832586757A1}" type="datetimeFigureOut">
              <a:rPr lang="en-US" smtClean="0"/>
              <a:t>11/9/2023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A29944-D250-43C4-9A2B-EB6D3A994B37}" type="slidenum">
              <a:rPr lang="en-US" smtClean="0"/>
              <a:t>‹#›</a:t>
            </a:fld>
            <a:endParaRPr lang="en-US"/>
          </a:p>
        </p:txBody>
      </p:sp>
    </p:spTree>
    <p:extLst>
      <p:ext uri="{BB962C8B-B14F-4D97-AF65-F5344CB8AC3E}">
        <p14:creationId xmlns:p14="http://schemas.microsoft.com/office/powerpoint/2010/main" val="7934750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067EA19-2609-457B-B2DE-2832586757A1}" type="datetimeFigureOut">
              <a:rPr lang="en-US" smtClean="0"/>
              <a:t>11/9/2023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A29944-D250-43C4-9A2B-EB6D3A994B37}"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1504988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067EA19-2609-457B-B2DE-2832586757A1}" type="datetimeFigureOut">
              <a:rPr lang="en-US" smtClean="0"/>
              <a:t>11/9/2023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A29944-D250-43C4-9A2B-EB6D3A994B37}" type="slidenum">
              <a:rPr lang="en-US" smtClean="0"/>
              <a:t>‹#›</a:t>
            </a:fld>
            <a:endParaRPr lang="en-US"/>
          </a:p>
        </p:txBody>
      </p:sp>
    </p:spTree>
    <p:extLst>
      <p:ext uri="{BB962C8B-B14F-4D97-AF65-F5344CB8AC3E}">
        <p14:creationId xmlns:p14="http://schemas.microsoft.com/office/powerpoint/2010/main" val="8290324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067EA19-2609-457B-B2DE-2832586757A1}" type="datetimeFigureOut">
              <a:rPr lang="en-US" smtClean="0"/>
              <a:t>11/9/2023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A29944-D250-43C4-9A2B-EB6D3A994B37}" type="slidenum">
              <a:rPr lang="en-US" smtClean="0"/>
              <a:t>‹#›</a:t>
            </a:fld>
            <a:endParaRPr lang="en-US"/>
          </a:p>
        </p:txBody>
      </p:sp>
    </p:spTree>
    <p:extLst>
      <p:ext uri="{BB962C8B-B14F-4D97-AF65-F5344CB8AC3E}">
        <p14:creationId xmlns:p14="http://schemas.microsoft.com/office/powerpoint/2010/main" val="39534227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067EA19-2609-457B-B2DE-2832586757A1}" type="datetimeFigureOut">
              <a:rPr lang="en-US" smtClean="0"/>
              <a:t>11/9/2023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A29944-D250-43C4-9A2B-EB6D3A994B37}" type="slidenum">
              <a:rPr lang="en-US" smtClean="0"/>
              <a:t>‹#›</a:t>
            </a:fld>
            <a:endParaRPr lang="en-US"/>
          </a:p>
        </p:txBody>
      </p:sp>
    </p:spTree>
    <p:extLst>
      <p:ext uri="{BB962C8B-B14F-4D97-AF65-F5344CB8AC3E}">
        <p14:creationId xmlns:p14="http://schemas.microsoft.com/office/powerpoint/2010/main" val="232367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067EA19-2609-457B-B2DE-2832586757A1}" type="datetimeFigureOut">
              <a:rPr lang="en-US" smtClean="0"/>
              <a:t>11/9/2023</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12A29944-D250-43C4-9A2B-EB6D3A994B37}" type="slidenum">
              <a:rPr lang="en-US" smtClean="0"/>
              <a:t>‹#›</a:t>
            </a:fld>
            <a:endParaRPr lang="en-US"/>
          </a:p>
        </p:txBody>
      </p:sp>
    </p:spTree>
    <p:extLst>
      <p:ext uri="{BB962C8B-B14F-4D97-AF65-F5344CB8AC3E}">
        <p14:creationId xmlns:p14="http://schemas.microsoft.com/office/powerpoint/2010/main" val="4061335432"/>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 id="2147483757" r:id="rId12"/>
    <p:sldLayoutId id="2147483758" r:id="rId13"/>
    <p:sldLayoutId id="2147483759" r:id="rId14"/>
    <p:sldLayoutId id="2147483760" r:id="rId15"/>
    <p:sldLayoutId id="2147483761"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75" name="Group 74">
            <a:extLst>
              <a:ext uri="{FF2B5EF4-FFF2-40B4-BE49-F238E27FC236}">
                <a16:creationId xmlns:a16="http://schemas.microsoft.com/office/drawing/2014/main" id="{09EA7EA7-74F5-4EE2-8E3D-1A10308259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76" name="Straight Connector 75">
              <a:extLst>
                <a:ext uri="{FF2B5EF4-FFF2-40B4-BE49-F238E27FC236}">
                  <a16:creationId xmlns:a16="http://schemas.microsoft.com/office/drawing/2014/main" id="{A5CE79B5-7EE4-424D-AD14-5DEFB61B85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7" name="Straight Connector 116">
              <a:extLst>
                <a:ext uri="{FF2B5EF4-FFF2-40B4-BE49-F238E27FC236}">
                  <a16:creationId xmlns:a16="http://schemas.microsoft.com/office/drawing/2014/main" id="{696C926F-F999-44BA-8D86-9EAB51D650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8" name="Rectangle 23">
              <a:extLst>
                <a:ext uri="{FF2B5EF4-FFF2-40B4-BE49-F238E27FC236}">
                  <a16:creationId xmlns:a16="http://schemas.microsoft.com/office/drawing/2014/main" id="{248745E7-0AF0-48F9-8E58-2673FC5F4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9" name="Rectangle 25">
              <a:extLst>
                <a:ext uri="{FF2B5EF4-FFF2-40B4-BE49-F238E27FC236}">
                  <a16:creationId xmlns:a16="http://schemas.microsoft.com/office/drawing/2014/main" id="{9715E81A-D2E0-4431-9370-4E4A9ECA7F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0" name="Isosceles Triangle 79">
              <a:extLst>
                <a:ext uri="{FF2B5EF4-FFF2-40B4-BE49-F238E27FC236}">
                  <a16:creationId xmlns:a16="http://schemas.microsoft.com/office/drawing/2014/main" id="{CEDB37A9-282D-4DDB-85AD-B2090A825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1" name="Rectangle 27">
              <a:extLst>
                <a:ext uri="{FF2B5EF4-FFF2-40B4-BE49-F238E27FC236}">
                  <a16:creationId xmlns:a16="http://schemas.microsoft.com/office/drawing/2014/main" id="{533D5933-7F91-4F5E-BC31-42FD0E2D8D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2" name="Rectangle 28">
              <a:extLst>
                <a:ext uri="{FF2B5EF4-FFF2-40B4-BE49-F238E27FC236}">
                  <a16:creationId xmlns:a16="http://schemas.microsoft.com/office/drawing/2014/main" id="{37ADDF68-C9BE-46EA-83DE-2C07DD839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3" name="Rectangle 29">
              <a:extLst>
                <a:ext uri="{FF2B5EF4-FFF2-40B4-BE49-F238E27FC236}">
                  <a16:creationId xmlns:a16="http://schemas.microsoft.com/office/drawing/2014/main" id="{10D67396-BABD-48A8-A892-CCB5095FA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4" name="Isosceles Triangle 83">
              <a:extLst>
                <a:ext uri="{FF2B5EF4-FFF2-40B4-BE49-F238E27FC236}">
                  <a16:creationId xmlns:a16="http://schemas.microsoft.com/office/drawing/2014/main" id="{626DA82A-72C2-4DF6-9CF0-0D1F6B96B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5" name="Isosceles Triangle 84">
              <a:extLst>
                <a:ext uri="{FF2B5EF4-FFF2-40B4-BE49-F238E27FC236}">
                  <a16:creationId xmlns:a16="http://schemas.microsoft.com/office/drawing/2014/main" id="{8EE6DC63-4380-4BE0-A68A-8F01162BD1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useBgFill="1">
        <p:nvSpPr>
          <p:cNvPr id="87" name="Rectangle 86">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89" name="Rectangle 88">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1" name="Straight Connector 90">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953376"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93" name="Straight Connector 92">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133042"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95"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24631"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7"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6597"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9" name="Isosceles Triangle 98">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5488"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1"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7655"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3" name="Isosceles Triangle 102">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14821"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39736BC9-3D43-2617-A4FE-F8BF9514B76F}"/>
              </a:ext>
            </a:extLst>
          </p:cNvPr>
          <p:cNvSpPr>
            <a:spLocks noGrp="1"/>
          </p:cNvSpPr>
          <p:nvPr>
            <p:ph type="ctrTitle"/>
          </p:nvPr>
        </p:nvSpPr>
        <p:spPr>
          <a:xfrm>
            <a:off x="485246" y="609600"/>
            <a:ext cx="4571664" cy="5175624"/>
          </a:xfrm>
        </p:spPr>
        <p:txBody>
          <a:bodyPr vert="horz" lIns="91440" tIns="45720" rIns="91440" bIns="45720" rtlCol="0" anchor="ctr">
            <a:normAutofit/>
          </a:bodyPr>
          <a:lstStyle/>
          <a:p>
            <a:pPr algn="l"/>
            <a:r>
              <a:rPr lang="en-US" sz="4000" dirty="0">
                <a:solidFill>
                  <a:schemeClr val="tx1">
                    <a:lumMod val="85000"/>
                    <a:lumOff val="15000"/>
                  </a:schemeClr>
                </a:solidFill>
                <a:latin typeface="Times New Roman" panose="02020603050405020304" pitchFamily="18" charset="0"/>
                <a:cs typeface="Times New Roman" panose="02020603050405020304" pitchFamily="18" charset="0"/>
              </a:rPr>
              <a:t>Adult educator of teaching of digital learning tools and technology  </a:t>
            </a:r>
          </a:p>
        </p:txBody>
      </p:sp>
      <p:sp>
        <p:nvSpPr>
          <p:cNvPr id="3" name="Rectangle 2"/>
          <p:cNvSpPr/>
          <p:nvPr/>
        </p:nvSpPr>
        <p:spPr>
          <a:xfrm>
            <a:off x="7049625" y="905774"/>
            <a:ext cx="4657130" cy="5175849"/>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000" dirty="0"/>
              <a:t> </a:t>
            </a:r>
            <a:r>
              <a:rPr lang="en-US" sz="2400" dirty="0">
                <a:latin typeface="Times New Roman" panose="02020603050405020304" pitchFamily="18" charset="0"/>
                <a:cs typeface="Times New Roman" panose="02020603050405020304" pitchFamily="18" charset="0"/>
              </a:rPr>
              <a:t>The roles and responsibilities:</a:t>
            </a:r>
          </a:p>
          <a:p>
            <a:pPr algn="ctr"/>
            <a:endParaRPr lang="en-US" sz="2200" dirty="0">
              <a:latin typeface="Times New Roman" panose="02020603050405020304" pitchFamily="18" charset="0"/>
              <a:cs typeface="Times New Roman" panose="02020603050405020304" pitchFamily="18" charset="0"/>
            </a:endParaRPr>
          </a:p>
          <a:p>
            <a:pPr algn="ctr"/>
            <a:endParaRPr lang="en-US" dirty="0"/>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Planning, preparing and delivering lessons to all students in the class;</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Develop, update, and improve course materials as appropriate;</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Setting assessments and overseeing examinations</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Create a stimulating learning environment</a:t>
            </a:r>
          </a:p>
        </p:txBody>
      </p:sp>
    </p:spTree>
    <p:extLst>
      <p:ext uri="{BB962C8B-B14F-4D97-AF65-F5344CB8AC3E}">
        <p14:creationId xmlns:p14="http://schemas.microsoft.com/office/powerpoint/2010/main" val="3057495936"/>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E0538C9E-D4A6-204D-231A-6002B0CD34CF}"/>
              </a:ext>
            </a:extLst>
          </p:cNvPr>
          <p:cNvSpPr txBox="1"/>
          <p:nvPr/>
        </p:nvSpPr>
        <p:spPr>
          <a:xfrm>
            <a:off x="540323" y="651163"/>
            <a:ext cx="6747168" cy="1754326"/>
          </a:xfrm>
          <a:prstGeom prst="rect">
            <a:avLst/>
          </a:prstGeom>
          <a:noFill/>
          <a:ln>
            <a:solidFill>
              <a:schemeClr val="accent6">
                <a:lumMod val="75000"/>
              </a:schemeClr>
            </a:solidFill>
          </a:ln>
        </p:spPr>
        <p:txBody>
          <a:bodyPr wrap="square">
            <a:spAutoFit/>
          </a:bodyPr>
          <a:lstStyle/>
          <a:p>
            <a:pPr algn="just"/>
            <a:r>
              <a:rPr lang="en-US" sz="2800" dirty="0">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 </a:t>
            </a:r>
            <a:r>
              <a:rPr lang="en-US" sz="2800" dirty="0">
                <a:latin typeface="Times New Roman" panose="02020603050405020304" pitchFamily="18" charset="0"/>
                <a:ea typeface="Cambria" panose="02040503050406030204" pitchFamily="18" charset="0"/>
                <a:cs typeface="Times New Roman" panose="02020603050405020304" pitchFamily="18" charset="0"/>
              </a:rPr>
              <a:t>Time</a:t>
            </a:r>
            <a:r>
              <a:rPr lang="en-US" sz="3200" dirty="0">
                <a:latin typeface="Times New Roman" panose="02020603050405020304" pitchFamily="18" charset="0"/>
                <a:ea typeface="Cambria" panose="02040503050406030204" pitchFamily="18" charset="0"/>
                <a:cs typeface="Times New Roman" panose="02020603050405020304" pitchFamily="18" charset="0"/>
              </a:rPr>
              <a:t> management skill</a:t>
            </a:r>
          </a:p>
          <a:p>
            <a:pPr algn="just"/>
            <a:r>
              <a:rPr lang="en-US" sz="3200" dirty="0">
                <a:latin typeface="Times New Roman" panose="02020603050405020304" pitchFamily="18" charset="0"/>
                <a:ea typeface="Cambria" panose="02040503050406030204" pitchFamily="18" charset="0"/>
                <a:cs typeface="Times New Roman" panose="02020603050405020304" pitchFamily="18" charset="0"/>
              </a:rPr>
              <a:t> </a:t>
            </a:r>
            <a:r>
              <a:rPr lang="en-US" sz="2200" dirty="0">
                <a:latin typeface="Times New Roman" panose="02020603050405020304" pitchFamily="18" charset="0"/>
                <a:ea typeface="Cambria" panose="02040503050406030204" pitchFamily="18" charset="0"/>
                <a:cs typeface="Times New Roman" panose="02020603050405020304" pitchFamily="18" charset="0"/>
              </a:rPr>
              <a:t>it  allows you to efficiently and productively complete the activities and tasks you need to in the appropriate amount of time. </a:t>
            </a:r>
          </a:p>
        </p:txBody>
      </p:sp>
      <p:sp>
        <p:nvSpPr>
          <p:cNvPr id="24" name="TextBox 23">
            <a:extLst>
              <a:ext uri="{FF2B5EF4-FFF2-40B4-BE49-F238E27FC236}">
                <a16:creationId xmlns:a16="http://schemas.microsoft.com/office/drawing/2014/main" id="{A49A7D1B-619E-56FE-82D6-766F850A9D75}"/>
              </a:ext>
            </a:extLst>
          </p:cNvPr>
          <p:cNvSpPr txBox="1"/>
          <p:nvPr/>
        </p:nvSpPr>
        <p:spPr>
          <a:xfrm rot="10800000" flipV="1">
            <a:off x="540324" y="4101358"/>
            <a:ext cx="6747165" cy="1877437"/>
          </a:xfrm>
          <a:prstGeom prst="rect">
            <a:avLst/>
          </a:prstGeom>
          <a:noFill/>
          <a:ln>
            <a:solidFill>
              <a:schemeClr val="accent6">
                <a:lumMod val="75000"/>
              </a:schemeClr>
            </a:solidFill>
          </a:ln>
        </p:spPr>
        <p:txBody>
          <a:bodyPr wrap="square">
            <a:spAutoFit/>
          </a:bodyPr>
          <a:lstStyle/>
          <a:p>
            <a:pPr algn="just"/>
            <a:r>
              <a:rPr lang="en-US" sz="2800" dirty="0">
                <a:latin typeface="Cambria" panose="02040503050406030204" pitchFamily="18" charset="0"/>
                <a:ea typeface="Cambria" panose="02040503050406030204" pitchFamily="18" charset="0"/>
                <a:cs typeface="ADLaM Display" panose="020F0502020204030204" pitchFamily="2" charset="0"/>
              </a:rPr>
              <a:t>                     </a:t>
            </a:r>
            <a:r>
              <a:rPr lang="en-US" sz="2800" dirty="0">
                <a:latin typeface="Times New Roman" panose="02020603050405020304" pitchFamily="18" charset="0"/>
                <a:ea typeface="Cambria" panose="02040503050406030204" pitchFamily="18" charset="0"/>
                <a:cs typeface="Times New Roman" panose="02020603050405020304" pitchFamily="18" charset="0"/>
              </a:rPr>
              <a:t>Digital literacy skill</a:t>
            </a:r>
          </a:p>
          <a:p>
            <a:pPr algn="just"/>
            <a:r>
              <a:rPr lang="en-US" sz="2200" dirty="0">
                <a:latin typeface="Times New Roman" panose="02020603050405020304" pitchFamily="18" charset="0"/>
                <a:ea typeface="Cambria" panose="02040503050406030204" pitchFamily="18" charset="0"/>
                <a:cs typeface="Times New Roman" panose="02020603050405020304" pitchFamily="18" charset="0"/>
              </a:rPr>
              <a:t>using technology such as computers, smartphones, laptops, iPads, Chromebooks, or desktops.</a:t>
            </a:r>
          </a:p>
          <a:p>
            <a:pPr algn="just"/>
            <a:r>
              <a:rPr lang="en-US" sz="2200" dirty="0">
                <a:latin typeface="Times New Roman" panose="02020603050405020304" pitchFamily="18" charset="0"/>
                <a:ea typeface="Cambria" panose="02040503050406030204" pitchFamily="18" charset="0"/>
                <a:cs typeface="Times New Roman" panose="02020603050405020304" pitchFamily="18" charset="0"/>
              </a:rPr>
              <a:t>Also, it’s essential for educator  to available   to interpret and analyze vast amounts of data effectively</a:t>
            </a:r>
          </a:p>
        </p:txBody>
      </p:sp>
      <p:pic>
        <p:nvPicPr>
          <p:cNvPr id="3" name="Picture 2" descr="A group of people sitting around a table&#10;&#10;Description automatically generated">
            <a:extLst>
              <a:ext uri="{FF2B5EF4-FFF2-40B4-BE49-F238E27FC236}">
                <a16:creationId xmlns:a16="http://schemas.microsoft.com/office/drawing/2014/main" id="{A7F9FDF0-81D9-856A-A6D1-9B870A21E3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44691" y="159328"/>
            <a:ext cx="4211782" cy="3010220"/>
          </a:xfrm>
          <a:prstGeom prst="rect">
            <a:avLst/>
          </a:prstGeom>
        </p:spPr>
      </p:pic>
      <p:pic>
        <p:nvPicPr>
          <p:cNvPr id="6" name="Picture 5" descr="A group of people sitting in a classroom&#10;&#10;Description automatically generated">
            <a:extLst>
              <a:ext uri="{FF2B5EF4-FFF2-40B4-BE49-F238E27FC236}">
                <a16:creationId xmlns:a16="http://schemas.microsoft.com/office/drawing/2014/main" id="{B4CA6106-F3F2-0760-E872-02E11829066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44691" y="3459169"/>
            <a:ext cx="4211782" cy="3161815"/>
          </a:xfrm>
          <a:prstGeom prst="rect">
            <a:avLst/>
          </a:prstGeom>
        </p:spPr>
      </p:pic>
    </p:spTree>
    <p:extLst>
      <p:ext uri="{BB962C8B-B14F-4D97-AF65-F5344CB8AC3E}">
        <p14:creationId xmlns:p14="http://schemas.microsoft.com/office/powerpoint/2010/main" val="6096029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group of people in a classroom&#10;&#10;Description automatically generated">
            <a:extLst>
              <a:ext uri="{FF2B5EF4-FFF2-40B4-BE49-F238E27FC236}">
                <a16:creationId xmlns:a16="http://schemas.microsoft.com/office/drawing/2014/main" id="{5EA546D2-9B3B-DAF4-0855-06A35805239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429" t="12121" r="1429" b="-12121"/>
          <a:stretch/>
        </p:blipFill>
        <p:spPr>
          <a:xfrm>
            <a:off x="7572091" y="3625011"/>
            <a:ext cx="4283479" cy="3460594"/>
          </a:xfrm>
          <a:prstGeom prst="rect">
            <a:avLst/>
          </a:prstGeom>
        </p:spPr>
      </p:pic>
      <p:pic>
        <p:nvPicPr>
          <p:cNvPr id="7" name="Picture 6" descr="A group of people sitting at desks in a classroom&#10;&#10;Description automatically generated">
            <a:extLst>
              <a:ext uri="{FF2B5EF4-FFF2-40B4-BE49-F238E27FC236}">
                <a16:creationId xmlns:a16="http://schemas.microsoft.com/office/drawing/2014/main" id="{E1A24786-A59A-E7E7-2DA1-1B92919D73AB}"/>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8889" r="3637"/>
          <a:stretch/>
        </p:blipFill>
        <p:spPr>
          <a:xfrm>
            <a:off x="7572091" y="195491"/>
            <a:ext cx="4283479" cy="3037498"/>
          </a:xfrm>
          <a:prstGeom prst="rect">
            <a:avLst/>
          </a:prstGeom>
        </p:spPr>
      </p:pic>
      <p:sp>
        <p:nvSpPr>
          <p:cNvPr id="4" name="TextBox 3">
            <a:extLst>
              <a:ext uri="{FF2B5EF4-FFF2-40B4-BE49-F238E27FC236}">
                <a16:creationId xmlns:a16="http://schemas.microsoft.com/office/drawing/2014/main" id="{1A2FEAA6-A571-A18C-6D41-6125C3F575E7}"/>
              </a:ext>
            </a:extLst>
          </p:cNvPr>
          <p:cNvSpPr txBox="1"/>
          <p:nvPr/>
        </p:nvSpPr>
        <p:spPr>
          <a:xfrm>
            <a:off x="336430" y="651165"/>
            <a:ext cx="7047781" cy="1569660"/>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Organization</a:t>
            </a:r>
          </a:p>
          <a:p>
            <a:r>
              <a:rPr lang="en-US" dirty="0">
                <a:latin typeface="Times New Roman" panose="02020603050405020304" pitchFamily="18" charset="0"/>
                <a:cs typeface="Times New Roman" panose="02020603050405020304" pitchFamily="18" charset="0"/>
              </a:rPr>
              <a:t>Teacher can often be responsible for upwards of 30 students at a time. A well-organized classroom can help ensure that students remain focused, have their supplies, and know where to turn in assignments and what they're learning about in class.</a:t>
            </a:r>
          </a:p>
        </p:txBody>
      </p:sp>
      <p:sp>
        <p:nvSpPr>
          <p:cNvPr id="6" name="TextBox 5">
            <a:extLst>
              <a:ext uri="{FF2B5EF4-FFF2-40B4-BE49-F238E27FC236}">
                <a16:creationId xmlns:a16="http://schemas.microsoft.com/office/drawing/2014/main" id="{61C1A16B-0310-5CD8-7C57-0F45B7DAB595}"/>
              </a:ext>
            </a:extLst>
          </p:cNvPr>
          <p:cNvSpPr txBox="1"/>
          <p:nvPr/>
        </p:nvSpPr>
        <p:spPr>
          <a:xfrm>
            <a:off x="336430" y="2840181"/>
            <a:ext cx="6923353" cy="1569660"/>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Communication</a:t>
            </a:r>
          </a:p>
          <a:p>
            <a:r>
              <a:rPr lang="en-US" dirty="0">
                <a:latin typeface="Times New Roman" panose="02020603050405020304" pitchFamily="18" charset="0"/>
                <a:cs typeface="Times New Roman" panose="02020603050405020304" pitchFamily="18" charset="0"/>
              </a:rPr>
              <a:t>Teacher can use their communication while instructing, assigning homework, giving feedback and disciplining students. Strong communication skills can also help when having conferences with administrators too.</a:t>
            </a:r>
          </a:p>
        </p:txBody>
      </p:sp>
      <p:sp>
        <p:nvSpPr>
          <p:cNvPr id="5" name="TextBox 4">
            <a:extLst>
              <a:ext uri="{FF2B5EF4-FFF2-40B4-BE49-F238E27FC236}">
                <a16:creationId xmlns:a16="http://schemas.microsoft.com/office/drawing/2014/main" id="{8AF4C650-6C3C-3EFF-0DFE-E22D2261FE32}"/>
              </a:ext>
            </a:extLst>
          </p:cNvPr>
          <p:cNvSpPr txBox="1"/>
          <p:nvPr/>
        </p:nvSpPr>
        <p:spPr>
          <a:xfrm>
            <a:off x="336430" y="4900413"/>
            <a:ext cx="6923352" cy="1015663"/>
          </a:xfrm>
          <a:prstGeom prst="rect">
            <a:avLst/>
          </a:prstGeom>
          <a:noFill/>
        </p:spPr>
        <p:txBody>
          <a:bodyPr wrap="square">
            <a:spAutoFit/>
          </a:bodyPr>
          <a:lstStyle/>
          <a:p>
            <a:pPr algn="ctr"/>
            <a:r>
              <a:rPr lang="en-US" dirty="0"/>
              <a:t> </a:t>
            </a:r>
            <a:r>
              <a:rPr lang="en-US" sz="2400" dirty="0">
                <a:latin typeface="Times New Roman" panose="02020603050405020304" pitchFamily="18" charset="0"/>
                <a:cs typeface="Times New Roman" panose="02020603050405020304" pitchFamily="18" charset="0"/>
              </a:rPr>
              <a:t>Online research skill</a:t>
            </a:r>
          </a:p>
          <a:p>
            <a:r>
              <a:rPr lang="en-US" dirty="0">
                <a:latin typeface="Times New Roman" panose="02020603050405020304" pitchFamily="18" charset="0"/>
                <a:cs typeface="Times New Roman" panose="02020603050405020304" pitchFamily="18" charset="0"/>
              </a:rPr>
              <a:t>The ability to search for, locate, extract, organize, evaluate and use or present information that is relevant to a particular topic.</a:t>
            </a:r>
          </a:p>
        </p:txBody>
      </p:sp>
    </p:spTree>
    <p:extLst>
      <p:ext uri="{BB962C8B-B14F-4D97-AF65-F5344CB8AC3E}">
        <p14:creationId xmlns:p14="http://schemas.microsoft.com/office/powerpoint/2010/main" val="34545208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13ED9C0-A73B-1845-8A55-6FE98E3DFCEC}"/>
              </a:ext>
            </a:extLst>
          </p:cNvPr>
          <p:cNvSpPr txBox="1"/>
          <p:nvPr/>
        </p:nvSpPr>
        <p:spPr>
          <a:xfrm>
            <a:off x="831273" y="720566"/>
            <a:ext cx="7647709" cy="5539978"/>
          </a:xfrm>
          <a:prstGeom prst="rect">
            <a:avLst/>
          </a:prstGeom>
          <a:noFill/>
        </p:spPr>
        <p:txBody>
          <a:bodyPr wrap="square">
            <a:spAutoFit/>
          </a:bodyPr>
          <a:lstStyle/>
          <a:p>
            <a:pPr algn="ctr"/>
            <a:endParaRPr lang="en-US" sz="2400" dirty="0">
              <a:latin typeface="Times New Roman" panose="02020603050405020304" pitchFamily="18" charset="0"/>
              <a:cs typeface="Times New Roman" panose="02020603050405020304" pitchFamily="18" charset="0"/>
            </a:endParaRPr>
          </a:p>
          <a:p>
            <a:pPr algn="ctr"/>
            <a:r>
              <a:rPr lang="en-US" sz="2400" dirty="0">
                <a:latin typeface="Times New Roman" panose="02020603050405020304" pitchFamily="18" charset="0"/>
                <a:cs typeface="Times New Roman" panose="02020603050405020304" pitchFamily="18" charset="0"/>
              </a:rPr>
              <a:t>Advance Presentation skills</a:t>
            </a:r>
          </a:p>
          <a:p>
            <a:r>
              <a:rPr lang="en-US" sz="24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ECDL Advanced</a:t>
            </a:r>
            <a:endParaRPr lang="en-US" sz="24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ICDL Professional modules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It needed to plan and create more  effective presentations, manage and protect presentations, as well as the technical considerations of giving presentations.</a:t>
            </a:r>
          </a:p>
          <a:p>
            <a:endParaRPr lang="en-US" dirty="0">
              <a:latin typeface="Times New Roman" panose="02020603050405020304" pitchFamily="18" charset="0"/>
              <a:cs typeface="Times New Roman" panose="02020603050405020304" pitchFamily="18" charset="0"/>
            </a:endParaRPr>
          </a:p>
          <a:p>
            <a:pPr algn="ctr"/>
            <a:endParaRPr lang="en-US" sz="2400" dirty="0">
              <a:latin typeface="Times New Roman" panose="02020603050405020304" pitchFamily="18" charset="0"/>
              <a:cs typeface="Times New Roman" panose="02020603050405020304" pitchFamily="18" charset="0"/>
            </a:endParaRPr>
          </a:p>
          <a:p>
            <a:pPr algn="ctr"/>
            <a:r>
              <a:rPr lang="en-US" sz="2400" dirty="0">
                <a:latin typeface="Times New Roman" panose="02020603050405020304" pitchFamily="18" charset="0"/>
                <a:cs typeface="Times New Roman" panose="02020603050405020304" pitchFamily="18" charset="0"/>
              </a:rPr>
              <a:t>Java Script programming</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JavaScript Programming </a:t>
            </a:r>
          </a:p>
          <a:p>
            <a:r>
              <a:rPr lang="en-US" dirty="0">
                <a:latin typeface="Times New Roman" panose="02020603050405020304" pitchFamily="18" charset="0"/>
                <a:cs typeface="Times New Roman" panose="02020603050405020304" pitchFamily="18" charset="0"/>
              </a:rPr>
              <a:t>         Full  Online Course</a:t>
            </a:r>
          </a:p>
          <a:p>
            <a:endParaRPr lang="en-US"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To learning JavaScript may provide additional flexibility when developing applications. This technology also helps web developers create interactive content. Through JavaScript use, developers can introduce animations, scrolling effects, sliders, and other tools that boost user engagement and satisfaction</a:t>
            </a:r>
            <a:r>
              <a:rPr lang="en-US" dirty="0"/>
              <a:t>.</a:t>
            </a:r>
          </a:p>
        </p:txBody>
      </p:sp>
    </p:spTree>
    <p:extLst>
      <p:ext uri="{BB962C8B-B14F-4D97-AF65-F5344CB8AC3E}">
        <p14:creationId xmlns:p14="http://schemas.microsoft.com/office/powerpoint/2010/main" val="7840756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5720" y="609600"/>
            <a:ext cx="7928281" cy="529087"/>
          </a:xfrm>
        </p:spPr>
        <p:txBody>
          <a:bodyPr>
            <a:normAutofit fontScale="90000"/>
          </a:bodyPr>
          <a:lstStyle/>
          <a:p>
            <a:pPr algn="ctr"/>
            <a:r>
              <a:rPr lang="en-GB" dirty="0">
                <a:solidFill>
                  <a:schemeClr val="tx1"/>
                </a:solidFill>
              </a:rPr>
              <a:t>The advent of the 4</a:t>
            </a:r>
            <a:r>
              <a:rPr lang="en-GB" baseline="30000" dirty="0">
                <a:solidFill>
                  <a:schemeClr val="tx1"/>
                </a:solidFill>
              </a:rPr>
              <a:t>th</a:t>
            </a:r>
            <a:r>
              <a:rPr lang="en-GB" dirty="0">
                <a:solidFill>
                  <a:schemeClr val="tx1"/>
                </a:solidFill>
              </a:rPr>
              <a:t> industrial revolution</a:t>
            </a:r>
            <a:endParaRPr lang="en-US" dirty="0">
              <a:solidFill>
                <a:schemeClr val="tx1"/>
              </a:solidFill>
            </a:endParaRPr>
          </a:p>
        </p:txBody>
      </p:sp>
      <p:sp>
        <p:nvSpPr>
          <p:cNvPr id="4" name="Rectangle 3"/>
          <p:cNvSpPr/>
          <p:nvPr/>
        </p:nvSpPr>
        <p:spPr>
          <a:xfrm>
            <a:off x="1690255" y="1482436"/>
            <a:ext cx="7218218" cy="430887"/>
          </a:xfrm>
          <a:prstGeom prst="rect">
            <a:avLst/>
          </a:prstGeom>
        </p:spPr>
        <p:txBody>
          <a:bodyPr wrap="square">
            <a:spAutoFit/>
          </a:bodyPr>
          <a:lstStyle/>
          <a:p>
            <a:pPr algn="ctr"/>
            <a:r>
              <a:rPr lang="en-US" sz="2200" dirty="0">
                <a:latin typeface="Times New Roman" panose="02020603050405020304" pitchFamily="18" charset="0"/>
                <a:cs typeface="Times New Roman" panose="02020603050405020304" pitchFamily="18" charset="0"/>
              </a:rPr>
              <a:t>It will promote Virtual classrooms and Artificial intelligence</a:t>
            </a:r>
            <a:endParaRPr lang="en-US" sz="2200" dirty="0"/>
          </a:p>
        </p:txBody>
      </p:sp>
      <p:sp>
        <p:nvSpPr>
          <p:cNvPr id="5" name="Rectangle 4"/>
          <p:cNvSpPr/>
          <p:nvPr/>
        </p:nvSpPr>
        <p:spPr>
          <a:xfrm>
            <a:off x="845127" y="2208362"/>
            <a:ext cx="8063346" cy="3477875"/>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                                                        </a:t>
            </a:r>
            <a:r>
              <a:rPr lang="en-US" sz="2100" dirty="0">
                <a:latin typeface="Times New Roman" panose="02020603050405020304" pitchFamily="18" charset="0"/>
                <a:cs typeface="Times New Roman" panose="02020603050405020304" pitchFamily="18" charset="0"/>
              </a:rPr>
              <a:t>The role of AI:</a:t>
            </a:r>
          </a:p>
          <a:p>
            <a:pPr algn="ctr"/>
            <a:endParaRPr lang="en-US" sz="21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opportunity of generating advanced lectures and information visualization can be one of the most advanced examples of artificial intelligence in education.</a:t>
            </a:r>
          </a:p>
          <a:p>
            <a:pPr marL="28575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Learning can be tailored and adapted to each student’s goals and abilities through personalized programs.</a:t>
            </a:r>
          </a:p>
          <a:p>
            <a:pPr marL="28575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It has helped students and teachers with helpful feedback through its programs.</a:t>
            </a:r>
          </a:p>
          <a:p>
            <a:pPr marL="28575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Make the class exciting and create inclusive learning environments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578821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Apothecary</Template>
  <TotalTime>1225</TotalTime>
  <Words>398</Words>
  <Application>Microsoft Office PowerPoint</Application>
  <PresentationFormat>Widescreen</PresentationFormat>
  <Paragraphs>42</Paragraphs>
  <Slides>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vt:i4>
      </vt:variant>
    </vt:vector>
  </HeadingPairs>
  <TitlesOfParts>
    <vt:vector size="13" baseType="lpstr">
      <vt:lpstr>Arial</vt:lpstr>
      <vt:lpstr>Calibri</vt:lpstr>
      <vt:lpstr>Cambria</vt:lpstr>
      <vt:lpstr>Times New Roman</vt:lpstr>
      <vt:lpstr>Trebuchet MS</vt:lpstr>
      <vt:lpstr>Wingdings</vt:lpstr>
      <vt:lpstr>Wingdings 3</vt:lpstr>
      <vt:lpstr>Facet</vt:lpstr>
      <vt:lpstr>Adult educator of teaching of digital learning tools and technology  </vt:lpstr>
      <vt:lpstr>PowerPoint Presentation</vt:lpstr>
      <vt:lpstr>PowerPoint Presentation</vt:lpstr>
      <vt:lpstr>PowerPoint Presentation</vt:lpstr>
      <vt:lpstr>The advent of the 4th industrial revolution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Adult educator of teaching of digital learning tools and technology  </dc:title>
  <dc:creator>Nurzhamal Bektassova</dc:creator>
  <cp:lastModifiedBy>Nurzhamal Bektassova</cp:lastModifiedBy>
  <cp:revision>27</cp:revision>
  <dcterms:created xsi:type="dcterms:W3CDTF">2023-10-29T07:53:17Z</dcterms:created>
  <dcterms:modified xsi:type="dcterms:W3CDTF">2023-11-09T15:44:49Z</dcterms:modified>
</cp:coreProperties>
</file>